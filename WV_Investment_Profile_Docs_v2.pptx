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FD1F86-1415-41D0-A108-CFC9F2DF55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520CA7-4A65-49B8-A9AE-6C08ECF678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554CFA-4EE0-434F-BC7B-ACBC317D7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15754B-3429-4192-BC39-9530E6C8B1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09AA9A-EDDC-43F3-A286-6D4E59BB0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875C2A-4F67-45FA-9DD5-E086164E7A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6E6ECD-FD1D-421B-AD3D-980584C74B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DF5661-FDF2-4E31-B98B-618350E9ED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6C7372-6EE7-41DB-8B16-45F0243EDA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F83464-0CC8-4C65-964B-C5C3BEE4D4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4B8DFF-B653-434F-AEB3-F3BA18AC5E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BD6123-75CA-49DC-8096-BDD0338582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FC77A6-6101-49F9-8E2A-23D460BD66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5F281B-0A7C-47C8-8D07-19E99E0A83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C8E140-86E1-4ACE-99E3-465CD44FC1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4A151-6741-48E9-9E53-4F8643018B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github.com/blackhatsV1/western-visayas-region-6-investment-economic-profile" TargetMode="External"/><Relationship Id="rId2" Type="http://schemas.openxmlformats.org/officeDocument/2006/relationships/hyperlink" Target="http://localhos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blackhatsV1/western-visayas-region-6-investment-economic-profi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320040" y="0"/>
            <a:ext cx="4251960" cy="5142960"/>
          </a:xfrm>
          <a:prstGeom prst="rect">
            <a:avLst/>
          </a:prstGeom>
          <a:solidFill>
            <a:srgbClr val="021b2c">
              <a:alpha val="80000"/>
            </a:srgbClr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4480560"/>
            <a:ext cx="9143280" cy="6624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8229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USER DOCUMENTATION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28016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Western Visayas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Investment Profile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0632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dff0f5"/>
                </a:solidFill>
                <a:effectLst/>
                <a:uFillTx/>
                <a:latin typeface="Calibri"/>
                <a:ea typeface="Calibri"/>
              </a:rPr>
              <a:t>Region VI Economic &amp; Investment Data Platform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474720" y="3611880"/>
            <a:ext cx="2193840" cy="45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37947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Version 1.0  |  February 23, 2026</a:t>
            </a:r>
            <a:endParaRPr lang="en-US" sz="1100" b="0" u="none" strike="noStrike">
              <a:solidFill>
                <a:srgbClr val="7eddc8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0" y="379476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Department of Trade and Industry - Region VI</a:t>
            </a:r>
            <a:endParaRPr lang="en-US" sz="1100" b="0" u="none" strike="noStrike">
              <a:solidFill>
                <a:srgbClr val="7eddc8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0" y="4480560"/>
            <a:ext cx="9143280" cy="6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DTI Region VI  |  Western Visayas  |  Philippines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Table of Contents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65760" y="1051560"/>
            <a:ext cx="420552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65760" y="1051560"/>
            <a:ext cx="118080" cy="1599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94360" y="114300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94360" y="16732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User Manual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203904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System overview, key features, public site navigation, admin panel usage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800600" y="1051560"/>
            <a:ext cx="420552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4800600" y="1051560"/>
            <a:ext cx="118080" cy="1599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029200" y="114300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029200" y="16732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Installation Guide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029200" y="203904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System requirements, Docker setup, manual local setup, production deployment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365760" y="2834640"/>
            <a:ext cx="420552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365760" y="2834640"/>
            <a:ext cx="118080" cy="1599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94360" y="292608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594360" y="34563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FAQs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594360" y="382212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10 frequently asked questions covering access, credentials, data, and 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4800600" y="2834640"/>
            <a:ext cx="420552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4800600" y="2834640"/>
            <a:ext cx="118080" cy="1599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5029200" y="292608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5029200" y="34563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Tutorials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5029200" y="382212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Step-by-step guides: adding cards, editing content, year management, exports, inquiries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Manual — System Overview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96012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i="1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The Western Visayas Investment Profile is a premium, data-driven web application showcasing the investment potential and economic profile of Western Visayas (Region VI), Philippines. It serves as a digital investment funnel presenting key economic indicators, infrastructure data, and industry profiles.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457200" y="1737360"/>
            <a:ext cx="4114080" cy="1142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640080" y="180144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Public Visitors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640080" y="219456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Browse the investment data, explore economic drivers, view interactive charts and maps, download PDF profiles, and submit inquiries to DTI Region VI.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4846320" y="1737360"/>
            <a:ext cx="4114080" cy="1142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5029200" y="180144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Administrators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5029200" y="219456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Manage all platform content through a secure admin panel. Full CRUD control over cards, year data, inquiries, and Excel exports.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57200" y="30175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Platform Highlights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457200" y="3429000"/>
            <a:ext cx="200520" cy="200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749880" y="34106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Mint &amp; Black premium UI theme with smooth animations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457200" y="3886200"/>
            <a:ext cx="200520" cy="200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749880" y="38678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ApexCharts dynamic data visualizations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457200" y="4343400"/>
            <a:ext cx="200520" cy="200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749880" y="43250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Leaflet.js interactive infrastructure maps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4846320" y="3429000"/>
            <a:ext cx="200520" cy="200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5139000" y="34106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Mobile-responsive with PWA (home screen install) support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4846320" y="3886200"/>
            <a:ext cx="200520" cy="200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5139000" y="38678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Year-based data filtering for historical comparison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Features — Public Website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320040" y="100584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320040" y="100584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21280" y="109728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Interactive Charts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521280" y="146304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Dynamic economic visualizations powered by ApexCharts with year-range filtering.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3200400" y="100584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3200400" y="100584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3401640" y="109728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Infrastructure Maps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3401640" y="146304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Regional infrastructure mapped interactively using Leaflet.js.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6080760" y="100584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6080760" y="100584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6282000" y="109728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PDF Profile Download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6282000" y="146304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Auto-generated PDF of the full investment profile for any selected year.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320040" y="29718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320040" y="297180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521280" y="306324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Year-Based Filtering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521280" y="342900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Switch between different data periods to compare economic indicators over 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0"/>
          <p:cNvSpPr/>
          <p:nvPr/>
        </p:nvSpPr>
        <p:spPr>
          <a:xfrm>
            <a:off x="3200400" y="29718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3200400" y="297180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3401640" y="306324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Contact / Inquiry 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3401640" y="342900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Visitors submit inquiries directly to DTI Region VI with email pre-fill support.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4"/>
          <p:cNvSpPr/>
          <p:nvPr/>
        </p:nvSpPr>
        <p:spPr>
          <a:xfrm>
            <a:off x="6080760" y="29718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5"/>
          <p:cNvSpPr/>
          <p:nvPr/>
        </p:nvSpPr>
        <p:spPr>
          <a:xfrm>
            <a:off x="6080760" y="2971800"/>
            <a:ext cx="118080" cy="1782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6282000" y="3063240"/>
            <a:ext cx="244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PWA Mobile Support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7"/>
          <p:cNvSpPr/>
          <p:nvPr/>
        </p:nvSpPr>
        <p:spPr>
          <a:xfrm>
            <a:off x="6282000" y="3429000"/>
            <a:ext cx="2449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Fully responsive design with home-screen installation via Progressive Web App.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Features — Admin Panel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255960" y="96012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255960" y="96012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457200" y="105156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Secure Authentication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457200" y="141732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Hidden admin URL (/portal-access-secret) with email &amp; password login for added security.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2432160" y="96012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2432160" y="96012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2633400" y="105156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Content CRUD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2633400" y="141732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Full create, update, and delete control over all economic content cards and sections.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4608720" y="96012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4608720" y="96012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4809600" y="105156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Grid 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809600" y="141732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Visual grid layout for browsing and managing all content cards at a glance.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6784920" y="96012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6784920" y="96012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6986160" y="105156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Year Management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6986160" y="141732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Add new years, duplicate existing year data into new ranges, or permanently delete years.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255960" y="292608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1"/>
          <p:cNvSpPr/>
          <p:nvPr/>
        </p:nvSpPr>
        <p:spPr>
          <a:xfrm>
            <a:off x="255960" y="292608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457200" y="301752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Inquiry Management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457200" y="338328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View name, email, contact, and message for every visitor inquiry. Delete when processed.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2432160" y="292608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5"/>
          <p:cNvSpPr/>
          <p:nvPr/>
        </p:nvSpPr>
        <p:spPr>
          <a:xfrm>
            <a:off x="2432160" y="292608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2633400" y="301752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Excel Export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2633400" y="338328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Download Power BI-compatible .xlsx files containing all economic data for any year.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4608720" y="292608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9"/>
          <p:cNvSpPr/>
          <p:nvPr/>
        </p:nvSpPr>
        <p:spPr>
          <a:xfrm>
            <a:off x="4608720" y="292608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0"/>
          <p:cNvSpPr/>
          <p:nvPr/>
        </p:nvSpPr>
        <p:spPr>
          <a:xfrm>
            <a:off x="4809600" y="301752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Profile Settings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1"/>
          <p:cNvSpPr/>
          <p:nvPr/>
        </p:nvSpPr>
        <p:spPr>
          <a:xfrm>
            <a:off x="4809600" y="338328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Administrators can update their own name, email address, and password at any 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2"/>
          <p:cNvSpPr/>
          <p:nvPr/>
        </p:nvSpPr>
        <p:spPr>
          <a:xfrm>
            <a:off x="6784920" y="2926080"/>
            <a:ext cx="20566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3"/>
          <p:cNvSpPr/>
          <p:nvPr/>
        </p:nvSpPr>
        <p:spPr>
          <a:xfrm>
            <a:off x="6784920" y="2926080"/>
            <a:ext cx="118080" cy="1782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4"/>
          <p:cNvSpPr/>
          <p:nvPr/>
        </p:nvSpPr>
        <p:spPr>
          <a:xfrm>
            <a:off x="6986160" y="3017520"/>
            <a:ext cx="176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Unsaved Changes Guard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5"/>
          <p:cNvSpPr/>
          <p:nvPr/>
        </p:nvSpPr>
        <p:spPr>
          <a:xfrm>
            <a:off x="6986160" y="3383280"/>
            <a:ext cx="1764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Automatic warning prompt prevents accidental data loss when navigating away mid-edit.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Navigating the Public Website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365760" y="1005840"/>
            <a:ext cx="8411760" cy="86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365760" y="1005840"/>
            <a:ext cx="11808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567000" y="1252800"/>
            <a:ext cx="365040" cy="365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67000" y="12528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1051560" y="10699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Hero Section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154680" y="106992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Full-screen landing with headline investment data — GRDP growth rate and population. Use the year selector dropdown at the top to switch data periods.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365760" y="1993320"/>
            <a:ext cx="8411760" cy="867960"/>
          </a:xfrm>
          <a:prstGeom prst="rect">
            <a:avLst/>
          </a:prstGeom>
          <a:solidFill>
            <a:srgbClr val="dff0f5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365760" y="1993320"/>
            <a:ext cx="11808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567000" y="2240280"/>
            <a:ext cx="365040" cy="365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67000" y="22402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1051560" y="20574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Economic Drivers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3154680" y="205740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12 data-rich cards for each economic driver. Cards with a 'View Details' indicator open a modal with charts, infrastructure maps, and additional stats.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365760" y="2980800"/>
            <a:ext cx="8411760" cy="867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365760" y="2980800"/>
            <a:ext cx="11808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567000" y="3227760"/>
            <a:ext cx="365040" cy="365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567000" y="32277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1051560" y="30448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Contact Section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3154680" y="304488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Inquiry form at the bottom: name, email, contact number, and message. Saved to the database and opens your email client with a pre-filled DTI Region VI message.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365760" y="3968640"/>
            <a:ext cx="8411760" cy="867960"/>
          </a:xfrm>
          <a:prstGeom prst="rect">
            <a:avLst/>
          </a:prstGeom>
          <a:solidFill>
            <a:srgbClr val="dff0f5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365760" y="3968640"/>
            <a:ext cx="11808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567000" y="4215240"/>
            <a:ext cx="365040" cy="365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567000" y="42152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1051560" y="403236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PDF Download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3154680" y="403236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Click 'Download Profile' to auto-generate and download a comprehensive PDF of the investment profile for the currently selected year.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365760" y="475488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The admin panel is accessible via: /portal-access-secret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Installation Guide — System Requirements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457200" y="987480"/>
            <a:ext cx="8228880" cy="410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594360" y="1005840"/>
            <a:ext cx="246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Requirement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3200400" y="10058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Min. Version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4846320" y="10058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457200" y="1417320"/>
            <a:ext cx="8228880" cy="45648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594360" y="141732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PHP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3200400" y="141732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8.2+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4846320" y="14173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Required for Laravel 12 framework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57200" y="1901880"/>
            <a:ext cx="82288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94360" y="190188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Composer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3200400" y="190188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2.x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4846320" y="19018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PHP dependency manager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457200" y="2386440"/>
            <a:ext cx="8228880" cy="45648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594360" y="238644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Node.js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3200400" y="238644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18+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4846320" y="2386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For frontend asset compilation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457200" y="2871360"/>
            <a:ext cx="82288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594360" y="287136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NPM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3200400" y="287136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9+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4846320" y="287136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Comes with Node.js installation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457200" y="3355920"/>
            <a:ext cx="8228880" cy="45648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5"/>
          <p:cNvSpPr/>
          <p:nvPr/>
        </p:nvSpPr>
        <p:spPr>
          <a:xfrm>
            <a:off x="594360" y="335592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MySQL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3200400" y="335592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8.0+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4846320" y="33559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Primary database engine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8"/>
          <p:cNvSpPr/>
          <p:nvPr/>
        </p:nvSpPr>
        <p:spPr>
          <a:xfrm>
            <a:off x="457200" y="3840480"/>
            <a:ext cx="82288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9"/>
          <p:cNvSpPr/>
          <p:nvPr/>
        </p:nvSpPr>
        <p:spPr>
          <a:xfrm>
            <a:off x="594360" y="384048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Docker Desktop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0"/>
          <p:cNvSpPr/>
          <p:nvPr/>
        </p:nvSpPr>
        <p:spPr>
          <a:xfrm>
            <a:off x="3200400" y="384048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Latest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1"/>
          <p:cNvSpPr/>
          <p:nvPr/>
        </p:nvSpPr>
        <p:spPr>
          <a:xfrm>
            <a:off x="4846320" y="38404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Only needed for Docker setup (Optional)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2"/>
          <p:cNvSpPr/>
          <p:nvPr/>
        </p:nvSpPr>
        <p:spPr>
          <a:xfrm>
            <a:off x="457200" y="4434840"/>
            <a:ext cx="8228880" cy="5479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3"/>
          <p:cNvSpPr/>
          <p:nvPr/>
        </p:nvSpPr>
        <p:spPr>
          <a:xfrm>
            <a:off x="640080" y="4462200"/>
            <a:ext cx="7863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 Deployment: Multi-stage Dockerfile builds frontend with Node.js, installs PHP deps with Composer, runs on PHP 8.4 + Apache. Deploy to Northflank, Railway, AWS ECS, or any container host.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Installation — Option A: Docker Setup (Recommended)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457200" y="9601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Uses Laravel Sail — a lightweight CLI for Docker. Fastest way to get started.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365760" y="1417320"/>
            <a:ext cx="4205520" cy="1096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502920" y="1527120"/>
            <a:ext cx="346680" cy="346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502920" y="15271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932760" y="152712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Clone the Repository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530280" y="184824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git clone </a:t>
            </a: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  <a:hlinkClick r:id="rId1"/>
              </a:rPr>
              <a:t>https://github.com/blackhatsV1/western-visayas-region-6-investment-economic-profile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cd western-visayas-region-6-investment-econ</a:t>
            </a: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omic-profile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365760" y="2606040"/>
            <a:ext cx="4205520" cy="13251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502920" y="2715840"/>
            <a:ext cx="346680" cy="346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502920" y="2715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932760" y="271584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 PHP Dependencies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530280" y="3108960"/>
            <a:ext cx="3931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docker run --rm -u "$(id -u):$(id -g)" \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  -v "$(pwd):/var/www/html" -w /var/www/html \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  laravelsail/php82-composer:latest \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  composer install --ignore-platform-reqs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365760" y="4010760"/>
            <a:ext cx="4205520" cy="1096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502920" y="4048560"/>
            <a:ext cx="346680" cy="346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502920" y="4048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932760" y="401256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Configure Environment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530280" y="444168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cp .env.example .env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(Sail auto-configures DB — no manual editing needed)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4800600" y="1417320"/>
            <a:ext cx="4205520" cy="1096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4937760" y="1527120"/>
            <a:ext cx="346680" cy="346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4937760" y="15271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5367600" y="152712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the Containers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4"/>
          <p:cNvSpPr/>
          <p:nvPr/>
        </p:nvSpPr>
        <p:spPr>
          <a:xfrm>
            <a:off x="4965120" y="192024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./vendor/bin/sail up -d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5"/>
          <p:cNvSpPr/>
          <p:nvPr/>
        </p:nvSpPr>
        <p:spPr>
          <a:xfrm>
            <a:off x="4800600" y="2606040"/>
            <a:ext cx="4205520" cy="13251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4937760" y="2715840"/>
            <a:ext cx="346680" cy="346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4937760" y="2715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5367600" y="271584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Initialize the Application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4965120" y="3108960"/>
            <a:ext cx="3931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./vendor/bin/sail artisan key:generate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./vendor/bin/sail artisan migrate --seed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eddc8"/>
                </a:solidFill>
                <a:effectLst/>
                <a:uFillTx/>
                <a:latin typeface="Adwaita Mono"/>
                <a:ea typeface="Consolas"/>
              </a:rPr>
              <a:t>./vendor/bin/sail npm install &amp;&amp; sail npm run build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0"/>
          <p:cNvSpPr/>
          <p:nvPr/>
        </p:nvSpPr>
        <p:spPr>
          <a:xfrm>
            <a:off x="4829760" y="4053240"/>
            <a:ext cx="2297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App available at: </a:t>
            </a:r>
            <a:r>
              <a:rPr lang="en-US" sz="1200" b="1" u="none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http://localhost</a:t>
            </a: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Installation — Option B: Manual Local Setup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457200" y="9601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Use this method to run PHP and MySQL directly on your host machine without Docker.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149760" y="1417320"/>
            <a:ext cx="443448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502920" y="1527120"/>
            <a:ext cx="346680" cy="346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02920" y="15271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932760" y="152712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Clone &amp; Install Dependencies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278280" y="1884240"/>
            <a:ext cx="4269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git clone </a:t>
            </a:r>
            <a:r>
              <a:rPr lang="en-US" sz="950" b="0" u="none" strike="noStrike">
                <a:solidFill>
                  <a:srgbClr val="0563c1"/>
                </a:solidFill>
                <a:effectLst/>
                <a:uFillTx/>
                <a:latin typeface="Adwaita Mono"/>
                <a:ea typeface="Consolas"/>
                <a:hlinkClick r:id="rId1"/>
              </a:rPr>
              <a:t>https://github.com/blackhatsV1/western-visayas-region-6-investment-economic-profile</a:t>
            </a: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 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cd western-visayas-region-6-investment-economic-profile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composer install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156600" y="2606040"/>
            <a:ext cx="441504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502920" y="2715840"/>
            <a:ext cx="346680" cy="346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502920" y="2715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932760" y="271584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Environment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278280" y="310896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cp .env.example .env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# Edit .env: set DB_DATABASE, DB_USERNAME, DB_PASSWORD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156600" y="3794760"/>
            <a:ext cx="441504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502920" y="3904560"/>
            <a:ext cx="346680" cy="346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502920" y="3904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932760" y="390456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Initialize the Database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278280" y="429768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php artisan key:generate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php artisan migrate --seed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4800600" y="1417320"/>
            <a:ext cx="420552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1"/>
          <p:cNvSpPr/>
          <p:nvPr/>
        </p:nvSpPr>
        <p:spPr>
          <a:xfrm>
            <a:off x="4937760" y="1527120"/>
            <a:ext cx="346680" cy="346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937760" y="15271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5367600" y="152712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Build Frontend Assets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4965120" y="192024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npm install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npm run build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5"/>
          <p:cNvSpPr/>
          <p:nvPr/>
        </p:nvSpPr>
        <p:spPr>
          <a:xfrm>
            <a:off x="4800600" y="2606040"/>
            <a:ext cx="420552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6"/>
          <p:cNvSpPr/>
          <p:nvPr/>
        </p:nvSpPr>
        <p:spPr>
          <a:xfrm>
            <a:off x="4937760" y="2715840"/>
            <a:ext cx="346680" cy="346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4937760" y="2715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5367600" y="2715840"/>
            <a:ext cx="351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Start Development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4965120" y="310896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php artisan serve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Adwaita Mono"/>
                <a:ea typeface="Consolas"/>
              </a:rPr>
              <a:t># Available at: http://127.0.0.1:8000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Frequently Asked Questions  (1 of 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365760" y="960120"/>
            <a:ext cx="8411760" cy="76752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365760" y="960120"/>
            <a:ext cx="118080" cy="76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94360" y="10148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Q1: How do I access the admin panel?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594360" y="13075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Navigate to /portal-access-secret. Enter your admin email and password. The URL is intentionally hidden from the public site for security.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365760" y="1801440"/>
            <a:ext cx="8411760" cy="76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365760" y="1801440"/>
            <a:ext cx="118080" cy="76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594360" y="18561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Q2: What are the default admin credentials?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594360" y="21488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Created by AdminUserSeeder during setup (php artisan migrate --seed). Check database/seeders/AdminUserSeeder.php. Change these immediately after first login.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365760" y="2642760"/>
            <a:ext cx="8411760" cy="76752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365760" y="2642760"/>
            <a:ext cx="118080" cy="76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594360" y="269748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Q3: How do I add data for a new year?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594360" y="2990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In the admin panel, use 'Add Year' or 'Duplicate Year'. Duplicating copies all content from an existing year which you can then edit with updated statistics.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365760" y="3483720"/>
            <a:ext cx="8411760" cy="76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365760" y="3483720"/>
            <a:ext cx="118080" cy="76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594360" y="35388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Q4: Can I export data to Excel?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594360" y="3831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Yes. Click the 'Export' button in the admin panel. Downloads a .xlsx file containing all economic data for the selected year, formatted for Power BI.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365760" y="4325040"/>
            <a:ext cx="8411760" cy="76752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365760" y="4325040"/>
            <a:ext cx="118080" cy="76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594360" y="438012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Q5: How do I download the PDF profile?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594360" y="46724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On the public website, click 'Download Profile'. The system generates a PDF from the current year's database content and downloads it automatically.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Frequently Asked Questions  (2 of 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365760" y="960120"/>
            <a:ext cx="8411760" cy="76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365760" y="960120"/>
            <a:ext cx="118080" cy="767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594360" y="10148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Q6: Why are my changes not showing on the public site?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594360" y="13075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Make sure you clicked 'Save' after editing in the admin panel. The public site reads directly from the database — saved changes appear immediately.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365760" y="1801440"/>
            <a:ext cx="8411760" cy="767520"/>
          </a:xfrm>
          <a:prstGeom prst="rect">
            <a:avLst/>
          </a:prstGeom>
          <a:solidFill>
            <a:srgbClr val="dff0f5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365760" y="1801440"/>
            <a:ext cx="118080" cy="767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594360" y="18561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Q7: How do I update the seeder data?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594360" y="21488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Edit database/seeders/ProjectContentSeeder.php then run: php artisan db:seed --class=ProjectContentSeeder to re-seed the database.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365760" y="2642760"/>
            <a:ext cx="8411760" cy="76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365760" y="2642760"/>
            <a:ext cx="118080" cy="767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594360" y="269748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Q8: Is the application mobile-friendly?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594360" y="2990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Yes. The public site has fully responsive design with bottom tab navigation on mobile, swipeable cards, and PWA support for home screen installation.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6"/>
          <p:cNvSpPr/>
          <p:nvPr/>
        </p:nvSpPr>
        <p:spPr>
          <a:xfrm>
            <a:off x="365760" y="3483720"/>
            <a:ext cx="8411760" cy="767520"/>
          </a:xfrm>
          <a:prstGeom prst="rect">
            <a:avLst/>
          </a:prstGeom>
          <a:solidFill>
            <a:srgbClr val="dff0f5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365760" y="3483720"/>
            <a:ext cx="118080" cy="767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594360" y="35388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Q9: How do I reset the database?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594360" y="3831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Run php artisan migrate:fresh --seed to drop all tables, re-run migrations, and re-seed. Warning: this permanently deletes all existing data.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0"/>
          <p:cNvSpPr/>
          <p:nvPr/>
        </p:nvSpPr>
        <p:spPr>
          <a:xfrm>
            <a:off x="365760" y="4325040"/>
            <a:ext cx="8411760" cy="76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1"/>
          <p:cNvSpPr/>
          <p:nvPr/>
        </p:nvSpPr>
        <p:spPr>
          <a:xfrm>
            <a:off x="365760" y="4325040"/>
            <a:ext cx="118080" cy="767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2"/>
          <p:cNvSpPr/>
          <p:nvPr/>
        </p:nvSpPr>
        <p:spPr>
          <a:xfrm>
            <a:off x="594360" y="438012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Q10: What browsers are supported?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594360" y="46724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All modern browsers: Chrome, Firefox, Safari, and Edge. Internet Explorer is not supported.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Tutorials — Adding &amp; Editing Content Cards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365760" y="960120"/>
            <a:ext cx="4205520" cy="406836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365760" y="960120"/>
            <a:ext cx="118080" cy="4068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567000" y="1024200"/>
            <a:ext cx="3885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4.1  Adding a New Economic Driver Card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567000" y="152712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567000" y="15271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914400" y="150876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Log in to the admin panel at /portal-access-secret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567000" y="202068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567000" y="20206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914400" y="200268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Select the target year from the year dropdown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567000" y="251460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567000" y="25146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914400" y="249624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Scroll to bottom, click 'Add New Section'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567000" y="300852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567000" y="30085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914400" y="299016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Choose content type (stats_grid, chart, list, grid, text, or hero)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567000" y="350208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0"/>
          <p:cNvSpPr/>
          <p:nvPr/>
        </p:nvSpPr>
        <p:spPr>
          <a:xfrm>
            <a:off x="567000" y="35020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914400" y="348372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Enter section title, fill content fields, optionally add source citation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567000" y="399600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567000" y="39960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4"/>
          <p:cNvSpPr/>
          <p:nvPr/>
        </p:nvSpPr>
        <p:spPr>
          <a:xfrm>
            <a:off x="914400" y="397764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Set the page number to control display order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5"/>
          <p:cNvSpPr/>
          <p:nvPr/>
        </p:nvSpPr>
        <p:spPr>
          <a:xfrm>
            <a:off x="567000" y="448956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6"/>
          <p:cNvSpPr/>
          <p:nvPr/>
        </p:nvSpPr>
        <p:spPr>
          <a:xfrm>
            <a:off x="567000" y="448956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7"/>
          <p:cNvSpPr/>
          <p:nvPr/>
        </p:nvSpPr>
        <p:spPr>
          <a:xfrm>
            <a:off x="914400" y="447156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Click 'Save' — card appears immediately on the public site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4800600" y="960120"/>
            <a:ext cx="4205520" cy="4068360"/>
          </a:xfrm>
          <a:prstGeom prst="rect">
            <a:avLst/>
          </a:prstGeom>
          <a:solidFill>
            <a:srgbClr val="021b2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9"/>
          <p:cNvSpPr/>
          <p:nvPr/>
        </p:nvSpPr>
        <p:spPr>
          <a:xfrm>
            <a:off x="4800600" y="960120"/>
            <a:ext cx="118080" cy="4068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0"/>
          <p:cNvSpPr/>
          <p:nvPr/>
        </p:nvSpPr>
        <p:spPr>
          <a:xfrm>
            <a:off x="5001840" y="1024200"/>
            <a:ext cx="3885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4.2  Editing Existing Content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1"/>
          <p:cNvSpPr/>
          <p:nvPr/>
        </p:nvSpPr>
        <p:spPr>
          <a:xfrm>
            <a:off x="5001840" y="152712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2"/>
          <p:cNvSpPr/>
          <p:nvPr/>
        </p:nvSpPr>
        <p:spPr>
          <a:xfrm>
            <a:off x="5001840" y="15271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3"/>
          <p:cNvSpPr/>
          <p:nvPr/>
        </p:nvSpPr>
        <p:spPr>
          <a:xfrm>
            <a:off x="5349240" y="150876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 to the admin dashboard and select the correct year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4"/>
          <p:cNvSpPr/>
          <p:nvPr/>
        </p:nvSpPr>
        <p:spPr>
          <a:xfrm>
            <a:off x="5001840" y="202068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5"/>
          <p:cNvSpPr/>
          <p:nvPr/>
        </p:nvSpPr>
        <p:spPr>
          <a:xfrm>
            <a:off x="5001840" y="20206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6"/>
          <p:cNvSpPr/>
          <p:nvPr/>
        </p:nvSpPr>
        <p:spPr>
          <a:xfrm>
            <a:off x="5349240" y="200268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 on the content card you want to edit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7"/>
          <p:cNvSpPr/>
          <p:nvPr/>
        </p:nvSpPr>
        <p:spPr>
          <a:xfrm>
            <a:off x="5001840" y="251460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8"/>
          <p:cNvSpPr/>
          <p:nvPr/>
        </p:nvSpPr>
        <p:spPr>
          <a:xfrm>
            <a:off x="5001840" y="25146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9"/>
          <p:cNvSpPr/>
          <p:nvPr/>
        </p:nvSpPr>
        <p:spPr>
          <a:xfrm>
            <a:off x="5349240" y="249624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Modify the section title, data values, or source information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40"/>
          <p:cNvSpPr/>
          <p:nvPr/>
        </p:nvSpPr>
        <p:spPr>
          <a:xfrm>
            <a:off x="5001840" y="300852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1"/>
          <p:cNvSpPr/>
          <p:nvPr/>
        </p:nvSpPr>
        <p:spPr>
          <a:xfrm>
            <a:off x="5001840" y="30085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2"/>
          <p:cNvSpPr/>
          <p:nvPr/>
        </p:nvSpPr>
        <p:spPr>
          <a:xfrm>
            <a:off x="5349240" y="299016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 'Save' — the yellow 'unsaved changes' indicator will clear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3"/>
          <p:cNvSpPr/>
          <p:nvPr/>
        </p:nvSpPr>
        <p:spPr>
          <a:xfrm>
            <a:off x="5001840" y="3502080"/>
            <a:ext cx="255240" cy="255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4"/>
          <p:cNvSpPr/>
          <p:nvPr/>
        </p:nvSpPr>
        <p:spPr>
          <a:xfrm>
            <a:off x="5001840" y="35020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5"/>
          <p:cNvSpPr/>
          <p:nvPr/>
        </p:nvSpPr>
        <p:spPr>
          <a:xfrm>
            <a:off x="5349240" y="3483720"/>
            <a:ext cx="3519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Verify changes on the public site by opening the homepage in a new tab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Tutorials — Managing Year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365760" y="960120"/>
            <a:ext cx="8411760" cy="383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548640" y="9601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4.3A  Duplicating a Year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6"/>
          <p:cNvSpPr/>
          <p:nvPr/>
        </p:nvSpPr>
        <p:spPr>
          <a:xfrm>
            <a:off x="502920" y="1490400"/>
            <a:ext cx="291960" cy="291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502920" y="14904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8"/>
          <p:cNvSpPr/>
          <p:nvPr/>
        </p:nvSpPr>
        <p:spPr>
          <a:xfrm>
            <a:off x="896040" y="1417320"/>
            <a:ext cx="3794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In the admin panel, click the 'Duplicate Year' button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9"/>
          <p:cNvSpPr/>
          <p:nvPr/>
        </p:nvSpPr>
        <p:spPr>
          <a:xfrm>
            <a:off x="502920" y="1993320"/>
            <a:ext cx="291960" cy="291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502920" y="199332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896040" y="1920240"/>
            <a:ext cx="3794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Select the source year to copy data from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2"/>
          <p:cNvSpPr/>
          <p:nvPr/>
        </p:nvSpPr>
        <p:spPr>
          <a:xfrm>
            <a:off x="502920" y="2496240"/>
            <a:ext cx="291960" cy="291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502920" y="24962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896040" y="2423160"/>
            <a:ext cx="3794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Enter the new target year range (e.g., '2025-2026')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4937760" y="1490400"/>
            <a:ext cx="291960" cy="291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6"/>
          <p:cNvSpPr/>
          <p:nvPr/>
        </p:nvSpPr>
        <p:spPr>
          <a:xfrm>
            <a:off x="4937760" y="14904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5330880" y="1417320"/>
            <a:ext cx="3794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Click 'Duplicate' — all content cards copied to the new year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4937760" y="1993320"/>
            <a:ext cx="291960" cy="291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9"/>
          <p:cNvSpPr/>
          <p:nvPr/>
        </p:nvSpPr>
        <p:spPr>
          <a:xfrm>
            <a:off x="4937760" y="199332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0"/>
          <p:cNvSpPr/>
          <p:nvPr/>
        </p:nvSpPr>
        <p:spPr>
          <a:xfrm>
            <a:off x="5330880" y="1920240"/>
            <a:ext cx="3794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Edit the duplicated cards to update statistics for the new year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365760" y="3017520"/>
            <a:ext cx="8411760" cy="383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2"/>
          <p:cNvSpPr/>
          <p:nvPr/>
        </p:nvSpPr>
        <p:spPr>
          <a:xfrm>
            <a:off x="548640" y="30175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4.3B  Deleting a Year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3"/>
          <p:cNvSpPr/>
          <p:nvPr/>
        </p:nvSpPr>
        <p:spPr>
          <a:xfrm>
            <a:off x="502920" y="3493080"/>
            <a:ext cx="291960" cy="2919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4"/>
          <p:cNvSpPr/>
          <p:nvPr/>
        </p:nvSpPr>
        <p:spPr>
          <a:xfrm>
            <a:off x="502920" y="34930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5"/>
          <p:cNvSpPr/>
          <p:nvPr/>
        </p:nvSpPr>
        <p:spPr>
          <a:xfrm>
            <a:off x="896040" y="3474720"/>
            <a:ext cx="8137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Select the year you want to delete from the year dropdown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6"/>
          <p:cNvSpPr/>
          <p:nvPr/>
        </p:nvSpPr>
        <p:spPr>
          <a:xfrm>
            <a:off x="502920" y="3968640"/>
            <a:ext cx="291960" cy="2919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7"/>
          <p:cNvSpPr/>
          <p:nvPr/>
        </p:nvSpPr>
        <p:spPr>
          <a:xfrm>
            <a:off x="502920" y="39686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896040" y="3950280"/>
            <a:ext cx="8137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Click the 'Delete Year' button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502920" y="4443840"/>
            <a:ext cx="291960" cy="2919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0"/>
          <p:cNvSpPr/>
          <p:nvPr/>
        </p:nvSpPr>
        <p:spPr>
          <a:xfrm>
            <a:off x="502920" y="44438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1b2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1"/>
          <p:cNvSpPr/>
          <p:nvPr/>
        </p:nvSpPr>
        <p:spPr>
          <a:xfrm>
            <a:off x="896040" y="4425840"/>
            <a:ext cx="8137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Confirm the deletion in the popup dialog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2"/>
          <p:cNvSpPr/>
          <p:nvPr/>
        </p:nvSpPr>
        <p:spPr>
          <a:xfrm>
            <a:off x="365760" y="4784400"/>
            <a:ext cx="8411760" cy="2959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3"/>
          <p:cNvSpPr/>
          <p:nvPr/>
        </p:nvSpPr>
        <p:spPr>
          <a:xfrm>
            <a:off x="901800" y="4700160"/>
            <a:ext cx="662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9a825"/>
                </a:solidFill>
                <a:effectLst/>
                <a:uFillTx/>
                <a:latin typeface="Calibri"/>
                <a:ea typeface="Calibri"/>
              </a:rPr>
              <a:t>Warning: Deleting a year permanently removes ALL content cards for that year. This action cannot be undone.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9143280" cy="86796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0" y="0"/>
            <a:ext cx="200520" cy="867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347400" y="0"/>
            <a:ext cx="74973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Tutorials — Exports &amp; Inquiry Management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"/>
          <p:cNvSpPr/>
          <p:nvPr/>
        </p:nvSpPr>
        <p:spPr>
          <a:xfrm>
            <a:off x="7955280" y="0"/>
            <a:ext cx="1005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365760" y="960120"/>
            <a:ext cx="4205520" cy="4068360"/>
          </a:xfrm>
          <a:prstGeom prst="rect">
            <a:avLst/>
          </a:prstGeom>
          <a:solidFill>
            <a:srgbClr val="f0f8fc"/>
          </a:solidFill>
          <a:ln w="12700">
            <a:solidFill>
              <a:srgbClr val="dff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365760" y="960120"/>
            <a:ext cx="118080" cy="4068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567000" y="1024200"/>
            <a:ext cx="3885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4.4  Exporting Data to Excel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548640" y="150876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548640" y="15087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932760" y="149040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Select the year you want to export in admin panel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0"/>
          <p:cNvSpPr/>
          <p:nvPr/>
        </p:nvSpPr>
        <p:spPr>
          <a:xfrm>
            <a:off x="548640" y="202068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548640" y="2020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2"/>
          <p:cNvSpPr/>
          <p:nvPr/>
        </p:nvSpPr>
        <p:spPr>
          <a:xfrm>
            <a:off x="932760" y="200268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Click the 'Export to Excel' button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3"/>
          <p:cNvSpPr/>
          <p:nvPr/>
        </p:nvSpPr>
        <p:spPr>
          <a:xfrm>
            <a:off x="548640" y="253296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548640" y="2532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932760" y="251460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A .xlsx file automatically downloads with all economic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6"/>
          <p:cNvSpPr/>
          <p:nvPr/>
        </p:nvSpPr>
        <p:spPr>
          <a:xfrm>
            <a:off x="548640" y="304488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7"/>
          <p:cNvSpPr/>
          <p:nvPr/>
        </p:nvSpPr>
        <p:spPr>
          <a:xfrm>
            <a:off x="548640" y="30448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932760" y="302652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2b3e"/>
                </a:solidFill>
                <a:effectLst/>
                <a:uFillTx/>
                <a:latin typeface="Calibri"/>
                <a:ea typeface="Calibri"/>
              </a:rPr>
              <a:t>Open in Excel or import into Power BI for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567000" y="361188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Exported Spreadsheet Columns: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0"/>
          <p:cNvSpPr/>
          <p:nvPr/>
        </p:nvSpPr>
        <p:spPr>
          <a:xfrm>
            <a:off x="567000" y="3931920"/>
            <a:ext cx="383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Year Range  |  Section Title  |  Type  |  Source  |  Category/Label  |  Value/Description  |  Series/Sub-Type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1"/>
          <p:cNvSpPr/>
          <p:nvPr/>
        </p:nvSpPr>
        <p:spPr>
          <a:xfrm>
            <a:off x="567000" y="44348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3a5a6a"/>
                </a:solidFill>
                <a:effectLst/>
                <a:uFillTx/>
                <a:latin typeface="Calibri"/>
                <a:ea typeface="Calibri"/>
              </a:rPr>
              <a:t>Flat structure optimized for direct Power BI import.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2"/>
          <p:cNvSpPr/>
          <p:nvPr/>
        </p:nvSpPr>
        <p:spPr>
          <a:xfrm>
            <a:off x="4800600" y="960120"/>
            <a:ext cx="4205520" cy="406836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3"/>
          <p:cNvSpPr/>
          <p:nvPr/>
        </p:nvSpPr>
        <p:spPr>
          <a:xfrm>
            <a:off x="4800600" y="960120"/>
            <a:ext cx="118080" cy="4068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4"/>
          <p:cNvSpPr/>
          <p:nvPr/>
        </p:nvSpPr>
        <p:spPr>
          <a:xfrm>
            <a:off x="5010840" y="1024200"/>
            <a:ext cx="3885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4.5  Handling Visitor Inquiries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5"/>
          <p:cNvSpPr/>
          <p:nvPr/>
        </p:nvSpPr>
        <p:spPr>
          <a:xfrm>
            <a:off x="4956120" y="150876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6"/>
          <p:cNvSpPr/>
          <p:nvPr/>
        </p:nvSpPr>
        <p:spPr>
          <a:xfrm>
            <a:off x="4956120" y="15087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7"/>
          <p:cNvSpPr/>
          <p:nvPr/>
        </p:nvSpPr>
        <p:spPr>
          <a:xfrm>
            <a:off x="5349240" y="149040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 in to the admin panel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8"/>
          <p:cNvSpPr/>
          <p:nvPr/>
        </p:nvSpPr>
        <p:spPr>
          <a:xfrm>
            <a:off x="4956120" y="202068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9"/>
          <p:cNvSpPr/>
          <p:nvPr/>
        </p:nvSpPr>
        <p:spPr>
          <a:xfrm>
            <a:off x="4956120" y="2020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0"/>
          <p:cNvSpPr/>
          <p:nvPr/>
        </p:nvSpPr>
        <p:spPr>
          <a:xfrm>
            <a:off x="5349240" y="200268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Scroll to the 'Inquiries' section on the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1"/>
          <p:cNvSpPr/>
          <p:nvPr/>
        </p:nvSpPr>
        <p:spPr>
          <a:xfrm>
            <a:off x="4956120" y="253296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2"/>
          <p:cNvSpPr/>
          <p:nvPr/>
        </p:nvSpPr>
        <p:spPr>
          <a:xfrm>
            <a:off x="4956120" y="2532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3"/>
          <p:cNvSpPr/>
          <p:nvPr/>
        </p:nvSpPr>
        <p:spPr>
          <a:xfrm>
            <a:off x="5349240" y="251460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each inquiry's name, email, contact number, and message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34"/>
          <p:cNvSpPr/>
          <p:nvPr/>
        </p:nvSpPr>
        <p:spPr>
          <a:xfrm>
            <a:off x="4956120" y="304488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5"/>
          <p:cNvSpPr/>
          <p:nvPr/>
        </p:nvSpPr>
        <p:spPr>
          <a:xfrm>
            <a:off x="4956120" y="30448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6"/>
          <p:cNvSpPr/>
          <p:nvPr/>
        </p:nvSpPr>
        <p:spPr>
          <a:xfrm>
            <a:off x="5349240" y="302652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Contact the visitor via their provided email address to respond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7"/>
          <p:cNvSpPr/>
          <p:nvPr/>
        </p:nvSpPr>
        <p:spPr>
          <a:xfrm>
            <a:off x="4956120" y="355716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8"/>
          <p:cNvSpPr/>
          <p:nvPr/>
        </p:nvSpPr>
        <p:spPr>
          <a:xfrm>
            <a:off x="4956120" y="35571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9"/>
          <p:cNvSpPr/>
          <p:nvPr/>
        </p:nvSpPr>
        <p:spPr>
          <a:xfrm>
            <a:off x="5349240" y="3538800"/>
            <a:ext cx="35197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 'Delete' next to a processed inquiry to remove 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"/>
          <p:cNvSpPr/>
          <p:nvPr/>
        </p:nvSpPr>
        <p:spPr>
          <a:xfrm>
            <a:off x="0" y="4526280"/>
            <a:ext cx="9143280" cy="616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"/>
          <p:cNvSpPr/>
          <p:nvPr/>
        </p:nvSpPr>
        <p:spPr>
          <a:xfrm>
            <a:off x="548640" y="822960"/>
            <a:ext cx="8228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Ready to Power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Western Visayas Investment?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548640" y="2514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The platform is live, data-rich, and built for decision-makers.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4"/>
          <p:cNvSpPr/>
          <p:nvPr/>
        </p:nvSpPr>
        <p:spPr>
          <a:xfrm>
            <a:off x="777240" y="3154680"/>
            <a:ext cx="1828080" cy="7765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777240" y="3154680"/>
            <a:ext cx="1828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Manual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"/>
          <p:cNvSpPr/>
          <p:nvPr/>
        </p:nvSpPr>
        <p:spPr>
          <a:xfrm>
            <a:off x="2743200" y="3154680"/>
            <a:ext cx="1828080" cy="7765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7"/>
          <p:cNvSpPr/>
          <p:nvPr/>
        </p:nvSpPr>
        <p:spPr>
          <a:xfrm>
            <a:off x="2743200" y="3154680"/>
            <a:ext cx="1828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Installation Guide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8"/>
          <p:cNvSpPr/>
          <p:nvPr/>
        </p:nvSpPr>
        <p:spPr>
          <a:xfrm>
            <a:off x="4709160" y="3154680"/>
            <a:ext cx="1828080" cy="7765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9"/>
          <p:cNvSpPr/>
          <p:nvPr/>
        </p:nvSpPr>
        <p:spPr>
          <a:xfrm>
            <a:off x="4709160" y="3154680"/>
            <a:ext cx="1828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 FAQs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0"/>
          <p:cNvSpPr/>
          <p:nvPr/>
        </p:nvSpPr>
        <p:spPr>
          <a:xfrm>
            <a:off x="6675120" y="3154680"/>
            <a:ext cx="1828080" cy="7765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1"/>
          <p:cNvSpPr/>
          <p:nvPr/>
        </p:nvSpPr>
        <p:spPr>
          <a:xfrm>
            <a:off x="6675120" y="3154680"/>
            <a:ext cx="1828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Tutorials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2"/>
          <p:cNvSpPr/>
          <p:nvPr/>
        </p:nvSpPr>
        <p:spPr>
          <a:xfrm>
            <a:off x="0" y="4526280"/>
            <a:ext cx="914328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eddc8"/>
                </a:solidFill>
                <a:effectLst/>
                <a:uFillTx/>
                <a:latin typeface="Calibri"/>
                <a:ea typeface="Calibri"/>
              </a:rPr>
              <a:t>Department of Trade and Industry — Region VI  |  Western Visayas, Philippines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2026-02-23T06:34:24Z</dcterms:created>
  <dc:creator>PptxGenJS</dc:creator>
  <dc:description/>
  <dc:language>en-US</dc:language>
  <cp:lastModifiedBy/>
  <dcterms:modified xsi:type="dcterms:W3CDTF">2026-02-23T22:53:27Z</dcterms:modified>
  <cp:revision>5</cp:revision>
  <dc:subject>PptxGenJS Presentation</dc:subject>
  <dc:title>Western Visayas Investment Profile - User Documentation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